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</p:sldIdLst>
  <p:sldSz cx="9144000" cy="5143500"/>
  <p:notesSz cx="9144000" cy="5143500"/>
  <p:embeddedFontLst>
    <p:embeddedFont>
      <p:font typeface="WHCMLS+Arial-BoldMT"/>
      <p:regular r:id="rId10"/>
    </p:embeddedFont>
    <p:embeddedFont>
      <p:font typeface="WHCMLS+Arial-BoldMT"/>
      <p:regular r:id="rId11"/>
    </p:embeddedFont>
    <p:embeddedFont>
      <p:font typeface="WHCMLS+Arial-BoldMT"/>
      <p:regular r:id="rId12"/>
    </p:embeddedFont>
    <p:embeddedFont>
      <p:font typeface="WHCMLS+Arial-BoldMT"/>
      <p:regular r:id="rId13"/>
    </p:embeddedFont>
    <p:embeddedFont>
      <p:font typeface="KEJUAP+PublicSans-Bold"/>
      <p:regular r:id="rId14"/>
    </p:embeddedFont>
    <p:embeddedFont>
      <p:font typeface="WHCMLS+Arial-BoldMT"/>
      <p:regular r:id="rId15"/>
    </p:embeddedFont>
    <p:embeddedFont>
      <p:font typeface="HJLJCJ+ArialMT"/>
      <p:regular r:id="rId16"/>
    </p:embeddedFont>
    <p:embeddedFont>
      <p:font typeface="WHCMLS+Arial-BoldMT"/>
      <p:regular r:id="rId17"/>
    </p:embeddedFont>
    <p:embeddedFont>
      <p:font typeface="HJLJCJ+ArialMT"/>
      <p:regular r:id="rId18"/>
    </p:embeddedFont>
    <p:embeddedFont>
      <p:font typeface="WHCMLS+Arial-BoldMT"/>
      <p:regular r:id="rId19"/>
    </p:embeddedFont>
    <p:embeddedFont>
      <p:font typeface="HJLJCJ+ArialMT"/>
      <p:regular r:id="rId20"/>
    </p:embeddedFont>
    <p:embeddedFont>
      <p:font typeface="WHCMLS+Arial-BoldMT"/>
      <p:regular r:id="rId21"/>
    </p:embeddedFont>
    <p:embeddedFont>
      <p:font typeface="WHCMLS+Arial-BoldMT"/>
      <p:regular r:id="rId22"/>
    </p:embeddedFont>
    <p:embeddedFont>
      <p:font typeface="HJLJCJ+ArialMT"/>
      <p:regular r:id="rId23"/>
    </p:embeddedFont>
    <p:embeddedFont>
      <p:font typeface="WHCMLS+Arial-BoldMT"/>
      <p:regular r:id="rId24"/>
    </p:embeddedFont>
    <p:embeddedFont>
      <p:font typeface="HJLJCJ+ArialMT"/>
      <p:regular r:id="rId25"/>
    </p:embeddedFont>
    <p:embeddedFont>
      <p:font typeface="HJLJCJ+ArialMT"/>
      <p:regular r:id="rId26"/>
    </p:embeddedFont>
    <p:embeddedFont>
      <p:font typeface="WHCMLS+Arial-BoldMT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font" Target="fonts/font1.fntdata" /><Relationship Id="rId11" Type="http://schemas.openxmlformats.org/officeDocument/2006/relationships/font" Target="fonts/font2.fntdata" /><Relationship Id="rId12" Type="http://schemas.openxmlformats.org/officeDocument/2006/relationships/font" Target="fonts/font3.fntdata" /><Relationship Id="rId13" Type="http://schemas.openxmlformats.org/officeDocument/2006/relationships/font" Target="fonts/font4.fntdata" /><Relationship Id="rId14" Type="http://schemas.openxmlformats.org/officeDocument/2006/relationships/font" Target="fonts/font5.fntdata" /><Relationship Id="rId15" Type="http://schemas.openxmlformats.org/officeDocument/2006/relationships/font" Target="fonts/font6.fntdata" /><Relationship Id="rId16" Type="http://schemas.openxmlformats.org/officeDocument/2006/relationships/font" Target="fonts/font7.fntdata" /><Relationship Id="rId17" Type="http://schemas.openxmlformats.org/officeDocument/2006/relationships/font" Target="fonts/font8.fntdata" /><Relationship Id="rId18" Type="http://schemas.openxmlformats.org/officeDocument/2006/relationships/font" Target="fonts/font9.fntdata" /><Relationship Id="rId19" Type="http://schemas.openxmlformats.org/officeDocument/2006/relationships/font" Target="fonts/font10.fntdata" /><Relationship Id="rId2" Type="http://schemas.openxmlformats.org/officeDocument/2006/relationships/tableStyles" Target="tableStyles.xml" /><Relationship Id="rId20" Type="http://schemas.openxmlformats.org/officeDocument/2006/relationships/font" Target="fonts/font11.fntdata" /><Relationship Id="rId21" Type="http://schemas.openxmlformats.org/officeDocument/2006/relationships/font" Target="fonts/font12.fntdata" /><Relationship Id="rId22" Type="http://schemas.openxmlformats.org/officeDocument/2006/relationships/font" Target="fonts/font13.fntdata" /><Relationship Id="rId23" Type="http://schemas.openxmlformats.org/officeDocument/2006/relationships/font" Target="fonts/font14.fntdata" /><Relationship Id="rId24" Type="http://schemas.openxmlformats.org/officeDocument/2006/relationships/font" Target="fonts/font15.fntdata" /><Relationship Id="rId25" Type="http://schemas.openxmlformats.org/officeDocument/2006/relationships/font" Target="fonts/font16.fntdata" /><Relationship Id="rId26" Type="http://schemas.openxmlformats.org/officeDocument/2006/relationships/font" Target="fonts/font17.fntdata" /><Relationship Id="rId27" Type="http://schemas.openxmlformats.org/officeDocument/2006/relationships/font" Target="fonts/font18.fntdata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2856" y="1028276"/>
            <a:ext cx="7823276" cy="6056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468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000000"/>
                </a:solidFill>
                <a:latin typeface="WHCMLS+Arial-BoldMT"/>
                <a:cs typeface="WHCMLS+Arial-BoldMT"/>
              </a:rPr>
              <a:t>Genomics</a:t>
            </a:r>
            <a:r>
              <a:rPr dirty="0" sz="4000" spc="10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4000">
                <a:solidFill>
                  <a:srgbClr val="000000"/>
                </a:solidFill>
                <a:latin typeface="WHCMLS+Arial-BoldMT"/>
                <a:cs typeface="WHCMLS+Arial-BoldMT"/>
              </a:rPr>
              <a:t>and</a:t>
            </a:r>
            <a:r>
              <a:rPr dirty="0" sz="4000" spc="106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4000">
                <a:solidFill>
                  <a:srgbClr val="000000"/>
                </a:solidFill>
                <a:latin typeface="WHCMLS+Arial-BoldMT"/>
                <a:cs typeface="WHCMLS+Arial-BoldMT"/>
              </a:rPr>
              <a:t>Science</a:t>
            </a:r>
            <a:r>
              <a:rPr dirty="0" sz="4000" spc="10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4000">
                <a:solidFill>
                  <a:srgbClr val="000000"/>
                </a:solidFill>
                <a:latin typeface="WHCMLS+Arial-BoldMT"/>
                <a:cs typeface="WHCMLS+Arial-BoldMT"/>
              </a:rPr>
              <a:t>Dojo</a:t>
            </a:r>
            <a:r>
              <a:rPr dirty="0" sz="4000" spc="107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4000">
                <a:solidFill>
                  <a:srgbClr val="000000"/>
                </a:solidFill>
                <a:latin typeface="WHCMLS+Arial-BoldMT"/>
                <a:cs typeface="WHCMLS+Arial-BoldMT"/>
              </a:rPr>
              <a:t>2.0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26733" y="1648585"/>
            <a:ext cx="3864096" cy="435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128"/>
              </a:lnSpc>
              <a:spcBef>
                <a:spcPts val="0"/>
              </a:spcBef>
              <a:spcAft>
                <a:spcPts val="0"/>
              </a:spcAft>
            </a:pPr>
            <a:r>
              <a:rPr dirty="0" sz="2800">
                <a:solidFill>
                  <a:srgbClr val="595959"/>
                </a:solidFill>
                <a:latin typeface="WHCMLS+Arial-BoldMT"/>
                <a:cs typeface="WHCMLS+Arial-BoldMT"/>
              </a:rPr>
              <a:t>3-Minute</a:t>
            </a:r>
            <a:r>
              <a:rPr dirty="0" sz="2800" spc="75">
                <a:solidFill>
                  <a:srgbClr val="595959"/>
                </a:solidFill>
                <a:latin typeface="WHCMLS+Arial-BoldMT"/>
                <a:cs typeface="WHCMLS+Arial-BoldMT"/>
              </a:rPr>
              <a:t> </a:t>
            </a:r>
            <a:r>
              <a:rPr dirty="0" sz="2800">
                <a:solidFill>
                  <a:srgbClr val="595959"/>
                </a:solidFill>
                <a:latin typeface="WHCMLS+Arial-BoldMT"/>
                <a:cs typeface="WHCMLS+Arial-BoldMT"/>
              </a:rPr>
              <a:t>Presentation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94665" y="2234825"/>
            <a:ext cx="6442238" cy="12362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4256" marR="0">
              <a:lnSpc>
                <a:spcPts val="223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Lasso-Logistic</a:t>
            </a:r>
            <a:r>
              <a:rPr dirty="0" sz="2000" spc="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Regression</a:t>
            </a:r>
            <a:r>
              <a:rPr dirty="0" sz="2000" spc="52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and</a:t>
            </a:r>
            <a:r>
              <a:rPr dirty="0" sz="2000" spc="-20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Artificial</a:t>
            </a:r>
            <a:r>
              <a:rPr dirty="0" sz="2000" spc="52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Neural</a:t>
            </a:r>
          </a:p>
          <a:p>
            <a:pPr marL="152987" marR="0">
              <a:lnSpc>
                <a:spcPts val="2234"/>
              </a:lnSpc>
              <a:spcBef>
                <a:spcPts val="165"/>
              </a:spcBef>
              <a:spcAft>
                <a:spcPts val="0"/>
              </a:spcAft>
            </a:pP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Network</a:t>
            </a:r>
            <a:r>
              <a:rPr dirty="0" sz="2000" spc="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for</a:t>
            </a:r>
            <a:r>
              <a:rPr dirty="0" sz="2000" spc="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Prostate</a:t>
            </a:r>
            <a:r>
              <a:rPr dirty="0" sz="2000" spc="-19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Adenocarcinoma</a:t>
            </a:r>
            <a:r>
              <a:rPr dirty="0" sz="2000" spc="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Metastasis</a:t>
            </a:r>
          </a:p>
          <a:p>
            <a:pPr marL="0" marR="0">
              <a:lnSpc>
                <a:spcPts val="2234"/>
              </a:lnSpc>
              <a:spcBef>
                <a:spcPts val="165"/>
              </a:spcBef>
              <a:spcAft>
                <a:spcPts val="0"/>
              </a:spcAft>
            </a:pP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Prediction</a:t>
            </a:r>
            <a:r>
              <a:rPr dirty="0" sz="2000" spc="5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and</a:t>
            </a:r>
            <a:r>
              <a:rPr dirty="0" sz="2000" spc="5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Biomarker</a:t>
            </a:r>
            <a:r>
              <a:rPr dirty="0" sz="2000" spc="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Discovery</a:t>
            </a:r>
            <a:r>
              <a:rPr dirty="0" sz="2000" spc="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Based</a:t>
            </a:r>
            <a:r>
              <a:rPr dirty="0" sz="2000" spc="52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on</a:t>
            </a:r>
            <a:r>
              <a:rPr dirty="0" sz="2000" spc="5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Gene</a:t>
            </a:r>
          </a:p>
          <a:p>
            <a:pPr marL="2031888" marR="0">
              <a:lnSpc>
                <a:spcPts val="2234"/>
              </a:lnSpc>
              <a:spcBef>
                <a:spcPts val="165"/>
              </a:spcBef>
              <a:spcAft>
                <a:spcPts val="0"/>
              </a:spcAft>
            </a:pP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Expression</a:t>
            </a:r>
            <a:r>
              <a:rPr dirty="0" sz="2000" spc="5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2000">
                <a:solidFill>
                  <a:srgbClr val="333399"/>
                </a:solidFill>
                <a:latin typeface="WHCMLS+Arial-BoldMT"/>
                <a:cs typeface="WHCMLS+Arial-BoldMT"/>
              </a:rPr>
              <a:t>Profile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32958" y="3679150"/>
            <a:ext cx="1967866" cy="7081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1">
                <a:solidFill>
                  <a:srgbClr val="000066"/>
                </a:solidFill>
                <a:latin typeface="WHCMLS+Arial-BoldMT"/>
                <a:cs typeface="WHCMLS+Arial-BoldMT"/>
              </a:rPr>
              <a:t>DZAKWANIL</a:t>
            </a:r>
            <a:r>
              <a:rPr dirty="0" sz="1500" spc="22">
                <a:solidFill>
                  <a:srgbClr val="000066"/>
                </a:solidFill>
                <a:latin typeface="WHCMLS+Arial-BoldMT"/>
                <a:cs typeface="WHCMLS+Arial-BoldMT"/>
              </a:rPr>
              <a:t> </a:t>
            </a:r>
            <a:r>
              <a:rPr dirty="0" sz="1500">
                <a:solidFill>
                  <a:srgbClr val="000066"/>
                </a:solidFill>
                <a:latin typeface="WHCMLS+Arial-BoldMT"/>
                <a:cs typeface="WHCMLS+Arial-BoldMT"/>
              </a:rPr>
              <a:t>HAKIM</a:t>
            </a:r>
          </a:p>
          <a:p>
            <a:pPr marL="72274" marR="0">
              <a:lnSpc>
                <a:spcPts val="1675"/>
              </a:lnSpc>
              <a:spcBef>
                <a:spcPts val="124"/>
              </a:spcBef>
              <a:spcAft>
                <a:spcPts val="0"/>
              </a:spcAft>
            </a:pPr>
            <a:r>
              <a:rPr dirty="0" sz="1500">
                <a:solidFill>
                  <a:srgbClr val="000066"/>
                </a:solidFill>
                <a:latin typeface="WHCMLS+Arial-BoldMT"/>
                <a:cs typeface="WHCMLS+Arial-BoldMT"/>
              </a:rPr>
              <a:t>ELIZABETH</a:t>
            </a:r>
            <a:r>
              <a:rPr dirty="0" sz="1500" spc="41">
                <a:solidFill>
                  <a:srgbClr val="000066"/>
                </a:solidFill>
                <a:latin typeface="WHCMLS+Arial-BoldMT"/>
                <a:cs typeface="WHCMLS+Arial-BoldMT"/>
              </a:rPr>
              <a:t> </a:t>
            </a:r>
            <a:r>
              <a:rPr dirty="0" sz="1500">
                <a:solidFill>
                  <a:srgbClr val="000066"/>
                </a:solidFill>
                <a:latin typeface="WHCMLS+Arial-BoldMT"/>
                <a:cs typeface="WHCMLS+Arial-BoldMT"/>
              </a:rPr>
              <a:t>LOHO</a:t>
            </a:r>
          </a:p>
          <a:p>
            <a:pPr marL="431601" marR="0">
              <a:lnSpc>
                <a:spcPts val="1675"/>
              </a:lnSpc>
              <a:spcBef>
                <a:spcPts val="124"/>
              </a:spcBef>
              <a:spcAft>
                <a:spcPts val="0"/>
              </a:spcAft>
            </a:pPr>
            <a:r>
              <a:rPr dirty="0" sz="1500">
                <a:solidFill>
                  <a:srgbClr val="000066"/>
                </a:solidFill>
                <a:latin typeface="WHCMLS+Arial-BoldMT"/>
                <a:cs typeface="WHCMLS+Arial-BoldMT"/>
              </a:rPr>
              <a:t>27/02/2025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328" y="4295263"/>
            <a:ext cx="1774780" cy="32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000000"/>
                </a:solidFill>
                <a:latin typeface="KEJUAP+PublicSans-Bold"/>
                <a:cs typeface="KEJUAP+PublicSans-Bold"/>
              </a:rPr>
              <a:t>Supported</a:t>
            </a:r>
            <a:r>
              <a:rPr dirty="0" sz="1900" spc="-44">
                <a:solidFill>
                  <a:srgbClr val="000000"/>
                </a:solidFill>
                <a:latin typeface="KEJUAP+PublicSans-Bold"/>
                <a:cs typeface="KEJUAP+PublicSans-Bold"/>
              </a:rPr>
              <a:t> </a:t>
            </a:r>
            <a:r>
              <a:rPr dirty="0" sz="1900" spc="-13">
                <a:solidFill>
                  <a:srgbClr val="000000"/>
                </a:solidFill>
                <a:latin typeface="KEJUAP+PublicSans-Bold"/>
                <a:cs typeface="KEJUAP+PublicSans-Bold"/>
              </a:rPr>
              <a:t>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0075" y="198119"/>
            <a:ext cx="2685484" cy="523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8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400">
                <a:solidFill>
                  <a:srgbClr val="000000"/>
                </a:solidFill>
                <a:latin typeface="WHCMLS+Arial-BoldMT"/>
                <a:cs typeface="WHCMLS+Arial-BoldMT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5075" y="336669"/>
            <a:ext cx="1937902" cy="5233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8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400" spc="10">
                <a:solidFill>
                  <a:srgbClr val="000000"/>
                </a:solidFill>
                <a:latin typeface="WHCMLS+Arial-BoldMT"/>
                <a:cs typeface="WHCMLS+Arial-BoldMT"/>
              </a:rPr>
              <a:t>Methods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3046" y="893245"/>
            <a:ext cx="2822068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Prostate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adenocarcinoma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/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prostate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100">
                <a:solidFill>
                  <a:srgbClr val="000000"/>
                </a:solidFill>
                <a:latin typeface="HJLJCJ+ArialMT"/>
                <a:cs typeface="HJLJCJ+ArialMT"/>
              </a:rPr>
              <a:t>cancer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59763" y="1356725"/>
            <a:ext cx="2074448" cy="5075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000000"/>
                </a:solidFill>
                <a:latin typeface="HJLJCJ+ArialMT"/>
                <a:cs typeface="HJLJCJ+ArialMT"/>
              </a:rPr>
              <a:t>4th</a:t>
            </a:r>
            <a:r>
              <a:rPr dirty="0" sz="2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most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prevalent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cancer</a:t>
            </a:r>
          </a:p>
          <a:p>
            <a:pPr marL="0" marR="0">
              <a:lnSpc>
                <a:spcPts val="1340"/>
              </a:lnSpc>
              <a:spcBef>
                <a:spcPts val="171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among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men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in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Indonesia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59780" y="2010765"/>
            <a:ext cx="1735706" cy="3912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ff0000"/>
                </a:solidFill>
                <a:latin typeface="HJLJCJ+ArialMT"/>
                <a:cs typeface="HJLJCJ+ArialMT"/>
              </a:rPr>
              <a:t>Frequently</a:t>
            </a:r>
            <a:r>
              <a:rPr dirty="0" sz="1200">
                <a:solidFill>
                  <a:srgbClr val="ff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ff0000"/>
                </a:solidFill>
                <a:latin typeface="HJLJCJ+ArialMT"/>
                <a:cs typeface="HJLJCJ+ArialMT"/>
              </a:rPr>
              <a:t>advances</a:t>
            </a:r>
            <a:r>
              <a:rPr dirty="0" sz="1200">
                <a:solidFill>
                  <a:srgbClr val="ff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ff0000"/>
                </a:solidFill>
                <a:latin typeface="HJLJCJ+ArialMT"/>
                <a:cs typeface="HJLJCJ+ArialMT"/>
              </a:rPr>
              <a:t>to</a:t>
            </a:r>
          </a:p>
          <a:p>
            <a:pPr marL="0" marR="0">
              <a:lnSpc>
                <a:spcPts val="1340"/>
              </a:lnSpc>
              <a:spcBef>
                <a:spcPts val="149"/>
              </a:spcBef>
              <a:spcAft>
                <a:spcPts val="0"/>
              </a:spcAft>
            </a:pPr>
            <a:r>
              <a:rPr dirty="0" sz="1200">
                <a:solidFill>
                  <a:srgbClr val="ff0000"/>
                </a:solidFill>
                <a:latin typeface="HJLJCJ+ArialMT"/>
                <a:cs typeface="HJLJCJ+ArialMT"/>
              </a:rPr>
              <a:t>metastasis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59774" y="2564865"/>
            <a:ext cx="2587927" cy="5741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Metastasis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detection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relies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on</a:t>
            </a:r>
          </a:p>
          <a:p>
            <a:pPr marL="0" marR="0">
              <a:lnSpc>
                <a:spcPts val="1340"/>
              </a:lnSpc>
              <a:spcBef>
                <a:spcPts val="149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histopathology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and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CT</a:t>
            </a:r>
            <a:r>
              <a:rPr dirty="0" sz="1200" spc="-23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scans,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which</a:t>
            </a:r>
          </a:p>
          <a:p>
            <a:pPr marL="0" marR="0">
              <a:lnSpc>
                <a:spcPts val="1340"/>
              </a:lnSpc>
              <a:spcBef>
                <a:spcPts val="99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are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takes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time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and</a:t>
            </a:r>
            <a:r>
              <a:rPr dirty="0" sz="12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HJLJCJ+ArialMT"/>
                <a:cs typeface="HJLJCJ+ArialMT"/>
              </a:rPr>
              <a:t>costly.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60042" y="3086270"/>
            <a:ext cx="461516" cy="218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000000"/>
                </a:solidFill>
                <a:latin typeface="HJLJCJ+ArialMT"/>
                <a:cs typeface="HJLJCJ+ArialMT"/>
              </a:rPr>
              <a:t>Biomarker</a:t>
            </a:r>
          </a:p>
          <a:p>
            <a:pPr marL="35960" marR="0">
              <a:lnSpc>
                <a:spcPts val="670"/>
              </a:lnSpc>
              <a:spcBef>
                <a:spcPts val="29"/>
              </a:spcBef>
              <a:spcAft>
                <a:spcPts val="0"/>
              </a:spcAft>
            </a:pPr>
            <a:r>
              <a:rPr dirty="0" sz="600">
                <a:solidFill>
                  <a:srgbClr val="000000"/>
                </a:solidFill>
                <a:latin typeface="HJLJCJ+ArialMT"/>
                <a:cs typeface="HJLJCJ+ArialMT"/>
              </a:rPr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28325" y="3409770"/>
            <a:ext cx="1936259" cy="265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HJLJCJ+ArialMT"/>
                <a:cs typeface="HJLJCJ+ArialMT"/>
              </a:rPr>
              <a:t>Research</a:t>
            </a:r>
            <a:r>
              <a:rPr dirty="0" sz="16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600">
                <a:solidFill>
                  <a:srgbClr val="000000"/>
                </a:solidFill>
                <a:latin typeface="HJLJCJ+ArialMT"/>
                <a:cs typeface="HJLJCJ+ArialMT"/>
              </a:rPr>
              <a:t>objective: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9275" y="3651525"/>
            <a:ext cx="4158798" cy="12131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1.</a:t>
            </a:r>
            <a:r>
              <a:rPr dirty="0" sz="1300" spc="1439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 spc="-97">
                <a:solidFill>
                  <a:srgbClr val="000000"/>
                </a:solidFill>
                <a:latin typeface="WHCMLS+Arial-BoldMT"/>
                <a:cs typeface="WHCMLS+Arial-BoldMT"/>
              </a:rPr>
              <a:t>To</a:t>
            </a:r>
            <a:r>
              <a:rPr dirty="0" sz="1300" spc="686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develop</a:t>
            </a:r>
            <a:r>
              <a:rPr dirty="0" sz="1300" spc="59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a</a:t>
            </a:r>
            <a:r>
              <a:rPr dirty="0" sz="1300" spc="59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machine</a:t>
            </a:r>
            <a:r>
              <a:rPr dirty="0" sz="1300" spc="59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learning</a:t>
            </a:r>
            <a:r>
              <a:rPr dirty="0" sz="1300" spc="59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model</a:t>
            </a:r>
            <a:r>
              <a:rPr dirty="0" sz="1300" spc="612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for</a:t>
            </a:r>
          </a:p>
          <a:p>
            <a:pPr marL="366249" marR="0">
              <a:lnSpc>
                <a:spcPts val="1452"/>
              </a:lnSpc>
              <a:spcBef>
                <a:spcPts val="57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predicting</a:t>
            </a:r>
            <a:r>
              <a:rPr dirty="0" sz="1300" spc="83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prostate</a:t>
            </a:r>
            <a:r>
              <a:rPr dirty="0" sz="1300" spc="8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cancer</a:t>
            </a:r>
            <a:r>
              <a:rPr dirty="0" sz="1300" spc="8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metastasis</a:t>
            </a:r>
            <a:r>
              <a:rPr dirty="0" sz="1300" spc="8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using</a:t>
            </a:r>
            <a:r>
              <a:rPr dirty="0" sz="1300" spc="83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gene</a:t>
            </a:r>
          </a:p>
          <a:p>
            <a:pPr marL="366249" marR="0">
              <a:lnSpc>
                <a:spcPts val="1452"/>
              </a:lnSpc>
              <a:spcBef>
                <a:spcPts val="107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expression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data.</a:t>
            </a:r>
          </a:p>
          <a:p>
            <a:pPr marL="0" marR="0">
              <a:lnSpc>
                <a:spcPts val="1452"/>
              </a:lnSpc>
              <a:spcBef>
                <a:spcPts val="57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2.</a:t>
            </a:r>
            <a:r>
              <a:rPr dirty="0" sz="1300" spc="1439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 spc="-97">
                <a:solidFill>
                  <a:srgbClr val="000000"/>
                </a:solidFill>
                <a:latin typeface="WHCMLS+Arial-BoldMT"/>
                <a:cs typeface="WHCMLS+Arial-BoldMT"/>
              </a:rPr>
              <a:t>To</a:t>
            </a:r>
            <a:r>
              <a:rPr dirty="0" sz="1300" spc="43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identify</a:t>
            </a:r>
            <a:r>
              <a:rPr dirty="0" sz="1300" spc="334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key</a:t>
            </a:r>
            <a:r>
              <a:rPr dirty="0" sz="1300" spc="334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WHCMLS+Arial-BoldMT"/>
                <a:cs typeface="WHCMLS+Arial-BoldMT"/>
              </a:rPr>
              <a:t>biomarkers</a:t>
            </a:r>
            <a:r>
              <a:rPr dirty="0" sz="1300" spc="345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linked</a:t>
            </a:r>
            <a:r>
              <a:rPr dirty="0" sz="1300" spc="298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to</a:t>
            </a:r>
            <a:r>
              <a:rPr dirty="0" sz="1300" spc="299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prostate</a:t>
            </a:r>
          </a:p>
          <a:p>
            <a:pPr marL="366249" marR="0">
              <a:lnSpc>
                <a:spcPts val="1452"/>
              </a:lnSpc>
              <a:spcBef>
                <a:spcPts val="107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cancer</a:t>
            </a:r>
            <a:r>
              <a:rPr dirty="0" sz="1300" spc="44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metastasis</a:t>
            </a:r>
            <a:r>
              <a:rPr dirty="0" sz="1300" spc="44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for</a:t>
            </a:r>
            <a:r>
              <a:rPr dirty="0" sz="1300" spc="44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improved</a:t>
            </a:r>
            <a:r>
              <a:rPr dirty="0" sz="1300" spc="44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diagnosis</a:t>
            </a:r>
            <a:r>
              <a:rPr dirty="0" sz="1300" spc="444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and</a:t>
            </a:r>
          </a:p>
          <a:p>
            <a:pPr marL="366249" marR="0">
              <a:lnSpc>
                <a:spcPts val="1452"/>
              </a:lnSpc>
              <a:spcBef>
                <a:spcPts val="107"/>
              </a:spcBef>
              <a:spcAft>
                <a:spcPts val="0"/>
              </a:spcAft>
            </a:pPr>
            <a:r>
              <a:rPr dirty="0" sz="1300">
                <a:solidFill>
                  <a:srgbClr val="000000"/>
                </a:solidFill>
                <a:latin typeface="HJLJCJ+ArialMT"/>
                <a:cs typeface="HJLJCJ+ArialMT"/>
              </a:rPr>
              <a:t>treatment.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43536" y="3790825"/>
            <a:ext cx="681477" cy="1799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WHCMLS+Arial-BoldMT"/>
                <a:cs typeface="WHCMLS+Arial-BoldMT"/>
              </a:rPr>
              <a:t>Figure</a:t>
            </a:r>
            <a:r>
              <a:rPr dirty="0" sz="1000" spc="27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1000">
                <a:solidFill>
                  <a:srgbClr val="000000"/>
                </a:solidFill>
                <a:latin typeface="WHCMLS+Arial-BoldMT"/>
                <a:cs typeface="WHCMLS+Arial-BoldMT"/>
              </a:rPr>
              <a:t>1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155159" y="3973705"/>
            <a:ext cx="3969276" cy="3628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RNA-seq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analysis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pipeline,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from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preprocessing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and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normalization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to</a:t>
            </a:r>
          </a:p>
          <a:p>
            <a:pPr marL="437383" marR="0">
              <a:lnSpc>
                <a:spcPts val="1117"/>
              </a:lnSpc>
              <a:spcBef>
                <a:spcPts val="372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feature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selection,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classification,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and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biomarker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 </a:t>
            </a:r>
            <a:r>
              <a:rPr dirty="0" sz="1000">
                <a:solidFill>
                  <a:srgbClr val="000000"/>
                </a:solidFill>
                <a:latin typeface="HJLJCJ+ArialMT"/>
                <a:cs typeface="HJLJCJ+ArialMT"/>
              </a:rPr>
              <a:t>identification.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5725" y="100459"/>
            <a:ext cx="1124977" cy="3388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000000"/>
                </a:solidFill>
                <a:latin typeface="WHCMLS+Arial-BoldMT"/>
                <a:cs typeface="WHCMLS+Arial-BoldMT"/>
              </a:rPr>
              <a:t>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338" y="519888"/>
            <a:ext cx="2788052" cy="157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1.Feature</a:t>
            </a:r>
            <a:r>
              <a:rPr dirty="0" sz="850" spc="1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selection</a:t>
            </a:r>
            <a:r>
              <a:rPr dirty="0" sz="850" spc="18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I</a:t>
            </a:r>
            <a:r>
              <a:rPr dirty="0" sz="850" spc="16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:</a:t>
            </a:r>
            <a:r>
              <a:rPr dirty="0" sz="850" spc="16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Differential</a:t>
            </a:r>
            <a:r>
              <a:rPr dirty="0" sz="850" spc="21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Expression</a:t>
            </a:r>
            <a:r>
              <a:rPr dirty="0" sz="850" spc="18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Genes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0301" y="519888"/>
            <a:ext cx="1413571" cy="157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2.Data</a:t>
            </a:r>
            <a:r>
              <a:rPr dirty="0" sz="850" spc="1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distribution</a:t>
            </a:r>
            <a:r>
              <a:rPr dirty="0" sz="850" spc="18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(PCA)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700524" y="519888"/>
            <a:ext cx="2290497" cy="157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3.Feature</a:t>
            </a:r>
            <a:r>
              <a:rPr dirty="0" sz="850" spc="1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selection</a:t>
            </a:r>
            <a:r>
              <a:rPr dirty="0" sz="850" spc="18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II</a:t>
            </a:r>
            <a:r>
              <a:rPr dirty="0" sz="850" spc="2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:</a:t>
            </a:r>
            <a:r>
              <a:rPr dirty="0" sz="850" spc="16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Feature</a:t>
            </a:r>
            <a:r>
              <a:rPr dirty="0" sz="850" spc="1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importance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7338" y="667106"/>
            <a:ext cx="187925" cy="157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HJLJCJ+ArialMT"/>
                <a:cs typeface="HJLJCJ+ArialMT"/>
              </a:rPr>
              <a:t>(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8587" y="2073733"/>
            <a:ext cx="221437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6225" y="2073733"/>
            <a:ext cx="2446401" cy="6184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Several</a:t>
            </a:r>
            <a:r>
              <a:rPr dirty="0" sz="900" spc="55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genes</a:t>
            </a:r>
            <a:r>
              <a:rPr dirty="0" sz="900" spc="55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are</a:t>
            </a:r>
            <a:r>
              <a:rPr dirty="0" sz="900" spc="55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significantly</a:t>
            </a:r>
            <a:r>
              <a:rPr dirty="0" sz="900" spc="55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(q&lt;0.01)</a:t>
            </a:r>
          </a:p>
          <a:p>
            <a:pPr marL="0" marR="0">
              <a:lnSpc>
                <a:spcPts val="1005"/>
              </a:lnSpc>
              <a:spcBef>
                <a:spcPts val="182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down-regulated</a:t>
            </a:r>
            <a:r>
              <a:rPr dirty="0" sz="900" spc="13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(27</a:t>
            </a:r>
            <a:r>
              <a:rPr dirty="0" sz="900" spc="10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genes;</a:t>
            </a:r>
            <a:r>
              <a:rPr dirty="0" sz="900" spc="10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such</a:t>
            </a:r>
            <a:r>
              <a:rPr dirty="0" sz="900" spc="10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as</a:t>
            </a:r>
            <a:r>
              <a:rPr dirty="0" sz="900" spc="10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 spc="-13">
                <a:solidFill>
                  <a:srgbClr val="333399"/>
                </a:solidFill>
                <a:latin typeface="HJLJCJ+ArialMT"/>
                <a:cs typeface="HJLJCJ+ArialMT"/>
              </a:rPr>
              <a:t>FAAH)</a:t>
            </a:r>
          </a:p>
          <a:p>
            <a:pPr marL="0" marR="0">
              <a:lnSpc>
                <a:spcPts val="1005"/>
              </a:lnSpc>
              <a:spcBef>
                <a:spcPts val="182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  <a:r>
              <a:rPr dirty="0" sz="900" spc="11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up-regulated</a:t>
            </a:r>
            <a:r>
              <a:rPr dirty="0" sz="900" spc="140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(25</a:t>
            </a:r>
            <a:r>
              <a:rPr dirty="0" sz="900" spc="10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genes;</a:t>
            </a:r>
            <a:r>
              <a:rPr dirty="0" sz="900" spc="108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such</a:t>
            </a:r>
            <a:r>
              <a:rPr dirty="0" sz="900" spc="10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as</a:t>
            </a:r>
            <a:r>
              <a:rPr dirty="0" sz="900" spc="6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AKT)</a:t>
            </a:r>
          </a:p>
          <a:p>
            <a:pPr marL="0" marR="0">
              <a:lnSpc>
                <a:spcPts val="1005"/>
              </a:lnSpc>
              <a:spcBef>
                <a:spcPts val="182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metastatic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prostate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cancer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644287" y="2073730"/>
            <a:ext cx="221437" cy="714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  <a:p>
            <a:pPr marL="0" marR="0">
              <a:lnSpc>
                <a:spcPts val="1005"/>
              </a:lnSpc>
              <a:spcBef>
                <a:spcPts val="331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41925" y="2073730"/>
            <a:ext cx="2320688" cy="3029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  <a:r>
              <a:rPr dirty="0" sz="900" spc="73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PCA</a:t>
            </a:r>
            <a:r>
              <a:rPr dirty="0" sz="900" spc="68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plot</a:t>
            </a:r>
            <a:r>
              <a:rPr dirty="0" sz="900" spc="73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shows</a:t>
            </a:r>
            <a:r>
              <a:rPr dirty="0" sz="900" spc="73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distinct</a:t>
            </a:r>
            <a:r>
              <a:rPr dirty="0" sz="900" spc="73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gene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expression</a:t>
            </a:r>
            <a:r>
              <a:rPr dirty="0" sz="900" spc="26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patterns</a:t>
            </a:r>
            <a:r>
              <a:rPr dirty="0" sz="900" spc="26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between</a:t>
            </a:r>
            <a:r>
              <a:rPr dirty="0" sz="900" spc="27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metastatic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02887" y="2073730"/>
            <a:ext cx="221437" cy="714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  <a:p>
            <a:pPr marL="0" marR="0">
              <a:lnSpc>
                <a:spcPts val="1005"/>
              </a:lnSpc>
              <a:spcBef>
                <a:spcPts val="331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700524" y="2073730"/>
            <a:ext cx="2389270" cy="988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Trained</a:t>
            </a:r>
            <a:r>
              <a:rPr dirty="0" sz="900" spc="48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Lasso-logistic</a:t>
            </a:r>
            <a:r>
              <a:rPr dirty="0" sz="900" spc="501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regression</a:t>
            </a:r>
            <a:r>
              <a:rPr dirty="0" sz="900" spc="511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random</a:t>
            </a:r>
            <a:r>
              <a:rPr dirty="0" sz="900" spc="1118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forest</a:t>
            </a:r>
            <a:r>
              <a:rPr dirty="0" sz="900" spc="112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to</a:t>
            </a:r>
            <a:r>
              <a:rPr dirty="0" sz="900" spc="109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assess</a:t>
            </a:r>
            <a:r>
              <a:rPr dirty="0" sz="900" spc="109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feature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importance,</a:t>
            </a:r>
            <a:r>
              <a:rPr dirty="0" sz="900" spc="93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with</a:t>
            </a:r>
            <a:r>
              <a:rPr dirty="0" sz="900" spc="93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logistic</a:t>
            </a:r>
            <a:r>
              <a:rPr dirty="0" sz="900" spc="959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regression</a:t>
            </a:r>
          </a:p>
          <a:p>
            <a:pPr marL="0" marR="0">
              <a:lnSpc>
                <a:spcPts val="1005"/>
              </a:lnSpc>
              <a:spcBef>
                <a:spcPts val="2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showing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best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performance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(100%)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Identified</a:t>
            </a:r>
            <a:r>
              <a:rPr dirty="0" sz="900" spc="12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seven</a:t>
            </a:r>
            <a:r>
              <a:rPr dirty="0" sz="900" spc="12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key</a:t>
            </a:r>
            <a:r>
              <a:rPr dirty="0" sz="900" spc="12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genes,</a:t>
            </a:r>
            <a:r>
              <a:rPr dirty="0" sz="900" spc="12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selecting</a:t>
            </a:r>
            <a:r>
              <a:rPr dirty="0" sz="900" spc="12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three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as</a:t>
            </a:r>
            <a:r>
              <a:rPr dirty="0" sz="900" spc="127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biomarkers</a:t>
            </a:r>
            <a:r>
              <a:rPr dirty="0" sz="900" spc="127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for</a:t>
            </a:r>
            <a:r>
              <a:rPr dirty="0" sz="900" spc="127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  <a:r>
              <a:rPr dirty="0" sz="900" spc="127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next</a:t>
            </a:r>
            <a:r>
              <a:rPr dirty="0" sz="900" spc="12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classifier</a:t>
            </a:r>
            <a:r>
              <a:rPr dirty="0" sz="900" spc="127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model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</a:t>
            </a:r>
            <a:r>
              <a:rPr dirty="0" sz="900" spc="-10">
                <a:solidFill>
                  <a:srgbClr val="333399"/>
                </a:solidFill>
                <a:latin typeface="WHCMLS+Arial-BoldMT"/>
                <a:cs typeface="WHCMLS+Arial-BoldMT"/>
              </a:rPr>
              <a:t>MYH11,</a:t>
            </a:r>
            <a:r>
              <a:rPr dirty="0" sz="900" spc="3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PRMT1,</a:t>
            </a:r>
            <a:r>
              <a:rPr dirty="0" sz="900" spc="2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TENT4A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41925" y="2348050"/>
            <a:ext cx="393724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(red)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57520" y="2348050"/>
            <a:ext cx="343104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722908" y="2348050"/>
            <a:ext cx="965336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non-metastatic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710152" y="2348050"/>
            <a:ext cx="546143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(yellow)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941925" y="2485210"/>
            <a:ext cx="1428769" cy="165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prostate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cancer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samples.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941925" y="2622370"/>
            <a:ext cx="2327185" cy="4401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  <a:r>
              <a:rPr dirty="0" sz="900" spc="65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clear</a:t>
            </a:r>
            <a:r>
              <a:rPr dirty="0" sz="900" spc="65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separation</a:t>
            </a:r>
            <a:r>
              <a:rPr dirty="0" sz="900" spc="65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of</a:t>
            </a:r>
            <a:r>
              <a:rPr dirty="0" sz="900" spc="65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data</a:t>
            </a:r>
            <a:r>
              <a:rPr dirty="0" sz="900" spc="65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points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indicates</a:t>
            </a:r>
            <a:r>
              <a:rPr dirty="0" sz="900" spc="18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significant</a:t>
            </a:r>
            <a:r>
              <a:rPr dirty="0" sz="900" spc="209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differences</a:t>
            </a:r>
            <a:r>
              <a:rPr dirty="0" sz="900" spc="218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900" spc="18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their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gene</a:t>
            </a:r>
            <a:r>
              <a:rPr dirty="0" sz="900" spc="2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expression</a:t>
            </a:r>
            <a:r>
              <a:rPr dirty="0" sz="900" spc="2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profiles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63049" y="2824788"/>
            <a:ext cx="2142391" cy="157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4.Cross</a:t>
            </a:r>
            <a:r>
              <a:rPr dirty="0" sz="850" spc="19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validation</a:t>
            </a:r>
            <a:r>
              <a:rPr dirty="0" sz="850" spc="18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&amp;</a:t>
            </a:r>
            <a:r>
              <a:rPr dirty="0" sz="850" spc="12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external</a:t>
            </a:r>
            <a:r>
              <a:rPr dirty="0" sz="850" spc="21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validation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976500" y="3162263"/>
            <a:ext cx="1675059" cy="1572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5.Biomarker</a:t>
            </a:r>
            <a:r>
              <a:rPr dirty="0" sz="850" spc="21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pathway</a:t>
            </a:r>
            <a:r>
              <a:rPr dirty="0" sz="850" spc="20">
                <a:solidFill>
                  <a:srgbClr val="000000"/>
                </a:solidFill>
                <a:latin typeface="WHCMLS+Arial-BoldMT"/>
                <a:cs typeface="WHCMLS+Arial-BoldMT"/>
              </a:rPr>
              <a:t> </a:t>
            </a:r>
            <a:r>
              <a:rPr dirty="0" sz="850">
                <a:solidFill>
                  <a:srgbClr val="000000"/>
                </a:solidFill>
                <a:latin typeface="WHCMLS+Arial-BoldMT"/>
                <a:cs typeface="WHCMLS+Arial-BoldMT"/>
              </a:rPr>
              <a:t>analysis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89712" y="3310330"/>
            <a:ext cx="221437" cy="988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  <a:p>
            <a:pPr marL="0" marR="0">
              <a:lnSpc>
                <a:spcPts val="1005"/>
              </a:lnSpc>
              <a:spcBef>
                <a:spcPts val="223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  <a:p>
            <a:pPr marL="0" marR="0">
              <a:lnSpc>
                <a:spcPts val="1005"/>
              </a:lnSpc>
              <a:spcBef>
                <a:spcPts val="228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187349" y="3310330"/>
            <a:ext cx="4260558" cy="12630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spc="-13">
                <a:solidFill>
                  <a:srgbClr val="333399"/>
                </a:solidFill>
                <a:latin typeface="WHCMLS+Arial-BoldMT"/>
                <a:cs typeface="WHCMLS+Arial-BoldMT"/>
              </a:rPr>
              <a:t>MYH11</a:t>
            </a:r>
            <a:r>
              <a:rPr dirty="0" sz="900" spc="20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(Myosin</a:t>
            </a:r>
            <a:r>
              <a:rPr dirty="0" sz="900" spc="190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Heavy</a:t>
            </a:r>
            <a:r>
              <a:rPr dirty="0" sz="900" spc="191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Chain</a:t>
            </a:r>
            <a:r>
              <a:rPr dirty="0" sz="900" spc="190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 spc="-25">
                <a:solidFill>
                  <a:srgbClr val="333399"/>
                </a:solidFill>
                <a:latin typeface="WHCMLS+Arial-BoldMT"/>
                <a:cs typeface="WHCMLS+Arial-BoldMT"/>
              </a:rPr>
              <a:t>11)</a:t>
            </a:r>
            <a:r>
              <a:rPr dirty="0" sz="900" spc="227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=</a:t>
            </a:r>
            <a:r>
              <a:rPr dirty="0" sz="900" spc="16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downregulated</a:t>
            </a:r>
            <a:r>
              <a:rPr dirty="0" sz="900" spc="16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900" spc="16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metastasis,</a:t>
            </a:r>
            <a:r>
              <a:rPr dirty="0" sz="900" spc="165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leading</a:t>
            </a:r>
            <a:r>
              <a:rPr dirty="0" sz="900" spc="16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to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cytoskeleton</a:t>
            </a:r>
            <a:r>
              <a:rPr dirty="0" sz="900" spc="321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disorganization</a:t>
            </a:r>
            <a:r>
              <a:rPr dirty="0" sz="900" spc="33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  <a:r>
              <a:rPr dirty="0" sz="900" spc="29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easier</a:t>
            </a:r>
            <a:r>
              <a:rPr dirty="0" sz="900" spc="29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cancer</a:t>
            </a:r>
            <a:r>
              <a:rPr dirty="0" sz="900" spc="29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cell</a:t>
            </a:r>
            <a:r>
              <a:rPr dirty="0" sz="900" spc="29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detachment</a:t>
            </a:r>
            <a:r>
              <a:rPr dirty="0" sz="900" spc="296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from</a:t>
            </a:r>
            <a:r>
              <a:rPr dirty="0" sz="900" spc="297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primary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tumor</a:t>
            </a:r>
          </a:p>
          <a:p>
            <a:pPr marL="0" marR="0">
              <a:lnSpc>
                <a:spcPts val="1005"/>
              </a:lnSpc>
              <a:spcBef>
                <a:spcPts val="2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PRMT1</a:t>
            </a:r>
            <a:r>
              <a:rPr dirty="0" sz="900" spc="196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(protein</a:t>
            </a:r>
            <a:r>
              <a:rPr dirty="0" sz="900" spc="19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arginine</a:t>
            </a:r>
            <a:r>
              <a:rPr dirty="0" sz="900" spc="196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methyltransferase</a:t>
            </a:r>
            <a:r>
              <a:rPr dirty="0" sz="900" spc="19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1)</a:t>
            </a:r>
            <a:r>
              <a:rPr dirty="0" sz="900" spc="21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=</a:t>
            </a:r>
            <a:r>
              <a:rPr dirty="0" sz="900" spc="16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upregulated</a:t>
            </a:r>
            <a:r>
              <a:rPr dirty="0" sz="900" spc="17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900" spc="17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metastasis,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EMT</a:t>
            </a:r>
            <a:r>
              <a:rPr dirty="0" sz="900" spc="24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induction</a:t>
            </a:r>
            <a:r>
              <a:rPr dirty="0" sz="900" spc="251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by</a:t>
            </a:r>
            <a:r>
              <a:rPr dirty="0" sz="900" spc="218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regulating</a:t>
            </a:r>
            <a:r>
              <a:rPr dirty="0" sz="900" spc="218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E-cadherin</a:t>
            </a:r>
            <a:r>
              <a:rPr dirty="0" sz="900" spc="218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  <a:r>
              <a:rPr dirty="0" sz="900" spc="218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ZEB1,</a:t>
            </a:r>
            <a:r>
              <a:rPr dirty="0" sz="900" spc="23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promotes</a:t>
            </a:r>
            <a:r>
              <a:rPr dirty="0" sz="900" spc="24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motility</a:t>
            </a:r>
            <a:r>
              <a:rPr dirty="0" sz="900" spc="24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and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invasion</a:t>
            </a:r>
            <a:r>
              <a:rPr dirty="0" sz="900" spc="2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by</a:t>
            </a:r>
            <a:r>
              <a:rPr dirty="0" sz="900" spc="2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β-catenin</a:t>
            </a:r>
            <a:r>
              <a:rPr dirty="0" sz="900" spc="2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downregulation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TENT4A</a:t>
            </a:r>
            <a:r>
              <a:rPr dirty="0" sz="900" spc="33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 spc="-13">
                <a:solidFill>
                  <a:srgbClr val="333399"/>
                </a:solidFill>
                <a:latin typeface="HJLJCJ+ArialMT"/>
                <a:cs typeface="HJLJCJ+ArialMT"/>
              </a:rPr>
              <a:t>(Terminal</a:t>
            </a:r>
            <a:r>
              <a:rPr dirty="0" sz="900" spc="352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Nucleotidyltransferase</a:t>
            </a:r>
            <a:r>
              <a:rPr dirty="0" sz="900" spc="34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4A)</a:t>
            </a:r>
            <a:r>
              <a:rPr dirty="0" sz="900" spc="34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=</a:t>
            </a:r>
            <a:r>
              <a:rPr dirty="0" sz="900" spc="33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upregulated</a:t>
            </a:r>
            <a:r>
              <a:rPr dirty="0" sz="900" spc="34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900" spc="33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metastasis,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regulates</a:t>
            </a:r>
            <a:r>
              <a:rPr dirty="0" sz="900" spc="35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mRNA</a:t>
            </a:r>
            <a:r>
              <a:rPr dirty="0" sz="900" spc="321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stability</a:t>
            </a:r>
            <a:r>
              <a:rPr dirty="0" sz="900" spc="355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and</a:t>
            </a:r>
            <a:r>
              <a:rPr dirty="0" sz="900" spc="35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333399"/>
                </a:solidFill>
                <a:latin typeface="WHCMLS+Arial-BoldMT"/>
                <a:cs typeface="WHCMLS+Arial-BoldMT"/>
              </a:rPr>
              <a:t>degradation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,</a:t>
            </a:r>
            <a:r>
              <a:rPr dirty="0" sz="900" spc="329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potentially</a:t>
            </a:r>
            <a:r>
              <a:rPr dirty="0" sz="900" spc="33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influencing</a:t>
            </a:r>
            <a:r>
              <a:rPr dirty="0" sz="900" spc="33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cancer</a:t>
            </a:r>
          </a:p>
          <a:p>
            <a:pPr marL="0" marR="0">
              <a:lnSpc>
                <a:spcPts val="1005"/>
              </a:lnSpc>
              <a:spcBef>
                <a:spcPts val="24"/>
              </a:spcBef>
              <a:spcAft>
                <a:spcPts val="0"/>
              </a:spcAft>
            </a:pP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progression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by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modulating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oncogene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expression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RNA</a:t>
            </a:r>
            <a:r>
              <a:rPr dirty="0" sz="900" spc="-5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quality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333399"/>
                </a:solidFill>
                <a:latin typeface="HJLJCJ+ArialMT"/>
                <a:cs typeface="HJLJCJ+ArialMT"/>
              </a:rPr>
              <a:t>control.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0187" y="4410755"/>
            <a:ext cx="221437" cy="4401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●</a:t>
            </a:r>
          </a:p>
          <a:p>
            <a:pPr marL="0" marR="0">
              <a:lnSpc>
                <a:spcPts val="1005"/>
              </a:lnSpc>
              <a:spcBef>
                <a:spcPts val="1154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●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77825" y="4410755"/>
            <a:ext cx="3247873" cy="7144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SVM</a:t>
            </a:r>
            <a:r>
              <a:rPr dirty="0" sz="900" spc="414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performs</a:t>
            </a:r>
            <a:r>
              <a:rPr dirty="0" sz="900" spc="413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well</a:t>
            </a:r>
            <a:r>
              <a:rPr dirty="0" sz="900" spc="413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in</a:t>
            </a:r>
            <a:r>
              <a:rPr dirty="0" sz="900" spc="413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cross-validation</a:t>
            </a:r>
            <a:r>
              <a:rPr dirty="0" sz="900" spc="413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but</a:t>
            </a:r>
            <a:r>
              <a:rPr dirty="0" sz="900" spc="413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suffers</a:t>
            </a:r>
            <a:r>
              <a:rPr dirty="0" sz="900" spc="41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from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overfitting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.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External</a:t>
            </a:r>
            <a:r>
              <a:rPr dirty="0" sz="900" spc="390">
                <a:solidFill>
                  <a:srgbClr val="2d2d8a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validation</a:t>
            </a:r>
            <a:r>
              <a:rPr dirty="0" sz="900" spc="399">
                <a:solidFill>
                  <a:srgbClr val="2d2d8a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is</a:t>
            </a:r>
            <a:r>
              <a:rPr dirty="0" sz="900" spc="36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more</a:t>
            </a:r>
            <a:r>
              <a:rPr dirty="0" sz="900" spc="365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important,</a:t>
            </a:r>
            <a:r>
              <a:rPr dirty="0" sz="900" spc="365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and</a:t>
            </a:r>
            <a:r>
              <a:rPr dirty="0" sz="900" spc="36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the</a:t>
            </a:r>
            <a:r>
              <a:rPr dirty="0" sz="900" spc="379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neural</a:t>
            </a:r>
          </a:p>
          <a:p>
            <a:pPr marL="0" marR="0">
              <a:lnSpc>
                <a:spcPts val="1005"/>
              </a:lnSpc>
              <a:spcBef>
                <a:spcPts val="24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network</a:t>
            </a:r>
            <a:r>
              <a:rPr dirty="0" sz="900" spc="174">
                <a:solidFill>
                  <a:srgbClr val="2d2d8a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is</a:t>
            </a:r>
            <a:r>
              <a:rPr dirty="0" sz="900" spc="14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the</a:t>
            </a:r>
            <a:r>
              <a:rPr dirty="0" sz="900" spc="14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best</a:t>
            </a:r>
            <a:r>
              <a:rPr dirty="0" sz="900" spc="145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at</a:t>
            </a:r>
            <a:r>
              <a:rPr dirty="0" sz="900" spc="145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generalizing</a:t>
            </a:r>
            <a:r>
              <a:rPr dirty="0" sz="900" spc="14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patterns,</a:t>
            </a:r>
            <a:r>
              <a:rPr dirty="0" sz="900" spc="145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making</a:t>
            </a:r>
            <a:r>
              <a:rPr dirty="0" sz="900" spc="146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it</a:t>
            </a:r>
            <a:r>
              <a:rPr dirty="0" sz="900" spc="145">
                <a:solidFill>
                  <a:srgbClr val="2d2d8a"/>
                </a:solidFill>
                <a:latin typeface="HJLJCJ+ArialMT"/>
                <a:cs typeface="HJLJCJ+ArialMT"/>
              </a:rPr>
              <a:t> 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the</a:t>
            </a:r>
          </a:p>
          <a:p>
            <a:pPr marL="0" marR="0">
              <a:lnSpc>
                <a:spcPts val="1005"/>
              </a:lnSpc>
              <a:spcBef>
                <a:spcPts val="74"/>
              </a:spcBef>
              <a:spcAft>
                <a:spcPts val="0"/>
              </a:spcAft>
            </a:pP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preferred</a:t>
            </a:r>
            <a:r>
              <a:rPr dirty="0" sz="900" spc="24">
                <a:solidFill>
                  <a:srgbClr val="2d2d8a"/>
                </a:solidFill>
                <a:latin typeface="WHCMLS+Arial-BoldMT"/>
                <a:cs typeface="WHCMLS+Arial-BoldMT"/>
              </a:rPr>
              <a:t> </a:t>
            </a:r>
            <a:r>
              <a:rPr dirty="0" sz="900">
                <a:solidFill>
                  <a:srgbClr val="2d2d8a"/>
                </a:solidFill>
                <a:latin typeface="WHCMLS+Arial-BoldMT"/>
                <a:cs typeface="WHCMLS+Arial-BoldMT"/>
              </a:rPr>
              <a:t>choice</a:t>
            </a:r>
            <a:r>
              <a:rPr dirty="0" sz="900">
                <a:solidFill>
                  <a:srgbClr val="2d2d8a"/>
                </a:solidFill>
                <a:latin typeface="HJLJCJ+ArialMT"/>
                <a:cs typeface="HJLJCJ+ArialM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825" y="420834"/>
            <a:ext cx="1618233" cy="3388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000000"/>
                </a:solidFill>
                <a:latin typeface="WHCMLS+Arial-BoldMT"/>
                <a:cs typeface="WHCMLS+Arial-BoldMT"/>
              </a:rPr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6768" y="901205"/>
            <a:ext cx="8051466" cy="109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  <a:r>
              <a:rPr dirty="0" sz="1400" spc="141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Lasso-Logistic</a:t>
            </a:r>
            <a:r>
              <a:rPr dirty="0" sz="1400" spc="222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Regression</a:t>
            </a:r>
            <a:r>
              <a:rPr dirty="0" sz="1400" spc="228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outperformed</a:t>
            </a:r>
            <a:r>
              <a:rPr dirty="0" sz="1400" spc="18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Random</a:t>
            </a:r>
            <a:r>
              <a:rPr dirty="0" sz="1400" spc="18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Forest</a:t>
            </a:r>
            <a:r>
              <a:rPr dirty="0" sz="1400" spc="18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1400" spc="18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feature</a:t>
            </a:r>
            <a:r>
              <a:rPr dirty="0" sz="1400" spc="18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selection,</a:t>
            </a:r>
            <a:r>
              <a:rPr dirty="0" sz="1400" spc="18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and</a:t>
            </a:r>
            <a:r>
              <a:rPr dirty="0" sz="1400" spc="19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Artificial</a:t>
            </a:r>
          </a:p>
          <a:p>
            <a:pPr marL="335932" marR="0">
              <a:lnSpc>
                <a:spcPts val="1564"/>
              </a:lnSpc>
              <a:spcBef>
                <a:spcPts val="65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Neural</a:t>
            </a:r>
            <a:r>
              <a:rPr dirty="0" sz="1400" spc="142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Network</a:t>
            </a:r>
            <a:r>
              <a:rPr dirty="0" sz="1400" spc="147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achieved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high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classification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performance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during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external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validation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using</a:t>
            </a:r>
            <a:r>
              <a:rPr dirty="0" sz="1400" spc="104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only</a:t>
            </a:r>
          </a:p>
          <a:p>
            <a:pPr marL="335932" marR="0">
              <a:lnSpc>
                <a:spcPts val="1564"/>
              </a:lnSpc>
              <a:spcBef>
                <a:spcPts val="115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three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biomarkers.</a:t>
            </a:r>
          </a:p>
          <a:p>
            <a:pPr marL="0" marR="0">
              <a:lnSpc>
                <a:spcPts val="1564"/>
              </a:lnSpc>
              <a:spcBef>
                <a:spcPts val="115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  <a:r>
              <a:rPr dirty="0" sz="1400" spc="141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  <a:r>
              <a:rPr dirty="0" sz="1400" spc="2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three</a:t>
            </a:r>
            <a:r>
              <a:rPr dirty="0" sz="1400" spc="2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identified</a:t>
            </a:r>
            <a:r>
              <a:rPr dirty="0" sz="1400" spc="2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biomarkers</a:t>
            </a:r>
            <a:r>
              <a:rPr dirty="0" sz="1400" spc="3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 spc="-13">
                <a:solidFill>
                  <a:srgbClr val="333399"/>
                </a:solidFill>
                <a:latin typeface="WHCMLS+Arial-BoldMT"/>
                <a:cs typeface="WHCMLS+Arial-BoldMT"/>
              </a:rPr>
              <a:t>(MYH11,</a:t>
            </a:r>
            <a:r>
              <a:rPr dirty="0" sz="1400" spc="7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PRMT1,</a:t>
            </a:r>
            <a:r>
              <a:rPr dirty="0" sz="1400" spc="60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and</a:t>
            </a:r>
            <a:r>
              <a:rPr dirty="0" sz="1400" spc="60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TENT4A)</a:t>
            </a:r>
            <a:r>
              <a:rPr dirty="0" sz="1400" spc="73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are</a:t>
            </a:r>
            <a:r>
              <a:rPr dirty="0" sz="1400" spc="2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associated</a:t>
            </a:r>
            <a:r>
              <a:rPr dirty="0" sz="1400" spc="2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with</a:t>
            </a:r>
            <a:r>
              <a:rPr dirty="0" sz="1400" spc="23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metastasis</a:t>
            </a:r>
          </a:p>
          <a:p>
            <a:pPr marL="335932" marR="0">
              <a:lnSpc>
                <a:spcPts val="1564"/>
              </a:lnSpc>
              <a:spcBef>
                <a:spcPts val="115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induction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through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cytoskeleton</a:t>
            </a:r>
            <a:r>
              <a:rPr dirty="0" sz="1400" spc="36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disorganization,</a:t>
            </a:r>
            <a:r>
              <a:rPr dirty="0" sz="1400" spc="36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EMT</a:t>
            </a:r>
            <a:r>
              <a:rPr dirty="0" sz="1400" spc="36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promotion,</a:t>
            </a:r>
            <a:r>
              <a:rPr dirty="0" sz="1400" spc="37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and</a:t>
            </a:r>
            <a:r>
              <a:rPr dirty="0" sz="1400" spc="36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mRNA</a:t>
            </a:r>
            <a:r>
              <a:rPr dirty="0" sz="1400" spc="-14">
                <a:solidFill>
                  <a:srgbClr val="333399"/>
                </a:solidFill>
                <a:latin typeface="WHCMLS+Arial-BoldMT"/>
                <a:cs typeface="WHCMLS+Arial-BoldMT"/>
              </a:rPr>
              <a:t> </a:t>
            </a:r>
            <a:r>
              <a:rPr dirty="0" sz="1400">
                <a:solidFill>
                  <a:srgbClr val="333399"/>
                </a:solidFill>
                <a:latin typeface="WHCMLS+Arial-BoldMT"/>
                <a:cs typeface="WHCMLS+Arial-BoldMT"/>
              </a:rPr>
              <a:t>stabilization.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5500" y="2547509"/>
            <a:ext cx="1438652" cy="3388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000000"/>
                </a:solidFill>
                <a:latin typeface="WHCMLS+Arial-BoldMT"/>
                <a:cs typeface="WHCMLS+Arial-BoldMT"/>
              </a:rPr>
              <a:t>Limitation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7668" y="2930705"/>
            <a:ext cx="7986307" cy="4820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  <a:r>
              <a:rPr dirty="0" sz="1400" spc="141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This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study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relies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on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RNA-seq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data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from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non-Indonesian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patients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due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to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limited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available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patient</a:t>
            </a:r>
          </a:p>
          <a:p>
            <a:pPr marL="335931" marR="0">
              <a:lnSpc>
                <a:spcPts val="1564"/>
              </a:lnSpc>
              <a:spcBef>
                <a:spcPts val="317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data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in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Indonesia.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7668" y="3421433"/>
            <a:ext cx="7471748" cy="236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●</a:t>
            </a:r>
            <a:r>
              <a:rPr dirty="0" sz="1400" spc="1411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Requires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more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external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validation,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which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can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be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achieved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by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increasing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the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dataset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 </a:t>
            </a:r>
            <a:r>
              <a:rPr dirty="0" sz="1400">
                <a:solidFill>
                  <a:srgbClr val="333399"/>
                </a:solidFill>
                <a:latin typeface="HJLJCJ+ArialMT"/>
                <a:cs typeface="HJLJCJ+ArialMT"/>
              </a:rPr>
              <a:t>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mitype="http://purl.org/dc/dcmitype/" xmlns:dc="http://purl.org/dc/elements/1.1/" xmlns:dcterms="http://purl.org/dc/terms/" xmlns:xsi="http://www.w3.org/2001/XMLSchema-instance">
  <dc:title>Presentation PowerPoint</dc:title>
  <dc:creator>Sheni Nurmawadah</dc:creator>
  <cp:lastModifiedBy>Sheni Nurmawadah</cp:lastModifiedBy>
  <cp:revision>1</cp:revision>
  <dcterms:modified xsi:type="dcterms:W3CDTF">2025-05-22T16:20:49+07:00</dcterms:modified>
</cp:coreProperties>
</file>